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60" r:id="rId4"/>
    <p:sldId id="261" r:id="rId5"/>
    <p:sldId id="262" r:id="rId6"/>
    <p:sldId id="263" r:id="rId7"/>
    <p:sldId id="264" r:id="rId8"/>
    <p:sldId id="265" r:id="rId9"/>
    <p:sldId id="266" r:id="rId10"/>
    <p:sldId id="267" r:id="rId11"/>
    <p:sldId id="268" r:id="rId12"/>
    <p:sldId id="259" r:id="rId13"/>
  </p:sldIdLst>
  <p:sldSz cx="12192000" cy="6858000"/>
  <p:notesSz cx="6858000" cy="9144000"/>
  <p:embeddedFontLst>
    <p:embeddedFont>
      <p:font typeface="Franklin Gothic Heavy" panose="020B0903020102020204" pitchFamily="34" charset="0"/>
      <p:regular r:id="rId15"/>
      <p:italic r:id="rId16"/>
    </p:embeddedFont>
    <p:embeddedFont>
      <p:font typeface="Lato Black" panose="020F0502020204030203" pitchFamily="34" charset="0"/>
      <p:bold r:id="rId17"/>
      <p:boldItalic r:id="rId18"/>
    </p:embeddedFont>
    <p:embeddedFont>
      <p:font typeface="Libre Baskerville" panose="02000000000000000000" pitchFamily="2" charset="0"/>
      <p:regular r:id="rId19"/>
      <p:bold r:id="rId20"/>
      <p: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1859547" y="4003121"/>
            <a:ext cx="8472903" cy="1446509"/>
          </a:xfrm>
          <a:prstGeom prst="rect">
            <a:avLst/>
          </a:prstGeom>
          <a:noFill/>
          <a:ln>
            <a:noFill/>
          </a:ln>
        </p:spPr>
        <p:txBody>
          <a:bodyPr spcFirstLastPara="1" wrap="square" lIns="91425" tIns="45700" rIns="91425" bIns="45700" anchor="t" anchorCtr="0">
            <a:spAutoFit/>
          </a:bodyPr>
          <a:lstStyle/>
          <a:p>
            <a:pPr lvl="0" algn="ctr">
              <a:buSzPts val="1800"/>
            </a:pPr>
            <a:br>
              <a:rPr lang="en-IN" sz="1800" b="0" i="0" u="none" strike="noStrike" cap="none" dirty="0">
                <a:solidFill>
                  <a:schemeClr val="dk1"/>
                </a:solidFill>
                <a:latin typeface="Calibri"/>
                <a:ea typeface="Calibri"/>
                <a:cs typeface="Calibri"/>
                <a:sym typeface="Calibri"/>
              </a:rPr>
            </a:br>
            <a:r>
              <a:rPr lang="en-IN" sz="2800" b="1" dirty="0">
                <a:solidFill>
                  <a:schemeClr val="dk1"/>
                </a:solidFill>
                <a:latin typeface="Franklin Gothic Heavy" panose="020B0903020102020204" pitchFamily="34" charset="0"/>
                <a:ea typeface="Calibri"/>
                <a:cs typeface="Calibri"/>
                <a:sym typeface="Calibri"/>
              </a:rPr>
              <a:t>Employee Management System</a:t>
            </a:r>
          </a:p>
          <a:p>
            <a:pPr lvl="0" algn="ctr">
              <a:buSzPts val="1800"/>
            </a:pPr>
            <a:endParaRPr lang="en-IN" sz="2800"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255639" y="1118199"/>
            <a:ext cx="10864645" cy="4832052"/>
          </a:xfrm>
          <a:prstGeom prst="rect">
            <a:avLst/>
          </a:prstGeom>
          <a:noFill/>
          <a:ln>
            <a:noFill/>
          </a:ln>
        </p:spPr>
        <p:txBody>
          <a:bodyPr spcFirstLastPara="1" wrap="square" lIns="91425" tIns="45700" rIns="91425" bIns="45700" anchor="t" anchorCtr="0">
            <a:spAutoFit/>
          </a:bodyPr>
          <a:lstStyle/>
          <a:p>
            <a:pPr lvl="0">
              <a:buClr>
                <a:schemeClr val="dk1"/>
              </a:buClr>
              <a:buSzPts val="2400"/>
            </a:pPr>
            <a:r>
              <a:rPr lang="en-US" sz="2400" b="1" dirty="0">
                <a:solidFill>
                  <a:srgbClr val="FF0000"/>
                </a:solidFill>
                <a:latin typeface="Times New Roman" panose="02020603050405020304" pitchFamily="18" charset="0"/>
                <a:ea typeface="Calibri"/>
                <a:cs typeface="Times New Roman" panose="02020603050405020304" pitchFamily="18" charset="0"/>
                <a:sym typeface="Calibri"/>
              </a:rPr>
              <a:t>Name:</a:t>
            </a:r>
            <a:r>
              <a:rPr lang="en-US" sz="2400" b="1" dirty="0">
                <a:solidFill>
                  <a:schemeClr val="dk1"/>
                </a:solidFill>
                <a:latin typeface="Calibri"/>
                <a:ea typeface="Calibri"/>
                <a:cs typeface="Calibri"/>
                <a:sym typeface="Calibri"/>
              </a:rPr>
              <a:t> </a:t>
            </a:r>
            <a:r>
              <a:rPr lang="en-US" sz="2000" b="1" dirty="0" err="1">
                <a:solidFill>
                  <a:schemeClr val="dk1"/>
                </a:solidFill>
                <a:latin typeface="Times New Roman" panose="02020603050405020304" pitchFamily="18" charset="0"/>
                <a:ea typeface="Calibri"/>
                <a:cs typeface="Times New Roman" panose="02020603050405020304" pitchFamily="18" charset="0"/>
                <a:sym typeface="Calibri"/>
              </a:rPr>
              <a:t>Maroju</a:t>
            </a:r>
            <a:r>
              <a:rPr lang="en-US" sz="2000" b="1" dirty="0">
                <a:solidFill>
                  <a:schemeClr val="dk1"/>
                </a:solidFill>
                <a:latin typeface="Times New Roman" panose="02020603050405020304" pitchFamily="18" charset="0"/>
                <a:ea typeface="Calibri"/>
                <a:cs typeface="Times New Roman" panose="02020603050405020304" pitchFamily="18" charset="0"/>
                <a:sym typeface="Calibri"/>
              </a:rPr>
              <a:t> Anand Sai</a:t>
            </a:r>
          </a:p>
          <a:p>
            <a:pPr lvl="0">
              <a:buClr>
                <a:schemeClr val="dk1"/>
              </a:buClr>
              <a:buSzPts val="2400"/>
            </a:pPr>
            <a:endParaRPr lang="en-US" sz="2400" b="1" dirty="0">
              <a:solidFill>
                <a:schemeClr val="dk1"/>
              </a:solidFill>
              <a:latin typeface="Calibri"/>
              <a:ea typeface="Calibri"/>
              <a:cs typeface="Calibri"/>
              <a:sym typeface="Calibri"/>
            </a:endParaRPr>
          </a:p>
          <a:p>
            <a:pPr lvl="0">
              <a:buClr>
                <a:schemeClr val="dk1"/>
              </a:buClr>
              <a:buSzPts val="2400"/>
            </a:pPr>
            <a:r>
              <a:rPr lang="en-US" sz="2400" b="1" dirty="0">
                <a:solidFill>
                  <a:srgbClr val="FF0000"/>
                </a:solidFill>
                <a:latin typeface="Times New Roman" panose="02020603050405020304" pitchFamily="18" charset="0"/>
                <a:ea typeface="Calibri"/>
                <a:cs typeface="Times New Roman" panose="02020603050405020304" pitchFamily="18" charset="0"/>
                <a:sym typeface="Calibri"/>
              </a:rPr>
              <a:t>Background: </a:t>
            </a:r>
            <a:r>
              <a:rPr lang="en-US" sz="2400" b="1" dirty="0" err="1">
                <a:solidFill>
                  <a:schemeClr val="dk1"/>
                </a:solidFill>
                <a:latin typeface="Times New Roman" panose="02020603050405020304" pitchFamily="18" charset="0"/>
                <a:ea typeface="Calibri"/>
                <a:cs typeface="Times New Roman" panose="02020603050405020304" pitchFamily="18" charset="0"/>
                <a:sym typeface="Calibri"/>
              </a:rPr>
              <a:t>B.Tech</a:t>
            </a: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 – </a:t>
            </a:r>
            <a:r>
              <a:rPr lang="en-US" sz="2000" b="1" dirty="0">
                <a:solidFill>
                  <a:schemeClr val="dk1"/>
                </a:solidFill>
                <a:latin typeface="Times New Roman" panose="02020603050405020304" pitchFamily="18" charset="0"/>
                <a:ea typeface="Calibri"/>
                <a:cs typeface="Times New Roman" panose="02020603050405020304" pitchFamily="18" charset="0"/>
                <a:sym typeface="Calibri"/>
              </a:rPr>
              <a:t>(Computer Science Engineering)</a:t>
            </a:r>
          </a:p>
          <a:p>
            <a:pPr lvl="0">
              <a:buClr>
                <a:schemeClr val="dk1"/>
              </a:buClr>
              <a:buSzPts val="2400"/>
            </a:pPr>
            <a:endParaRPr lang="en-US" sz="2000" b="1" dirty="0">
              <a:solidFill>
                <a:schemeClr val="dk1"/>
              </a:solidFill>
              <a:latin typeface="Times New Roman" panose="02020603050405020304" pitchFamily="18" charset="0"/>
              <a:ea typeface="Calibri"/>
              <a:cs typeface="Times New Roman" panose="02020603050405020304" pitchFamily="18" charset="0"/>
              <a:sym typeface="Calibri"/>
            </a:endParaRPr>
          </a:p>
          <a:p>
            <a:pPr lvl="0">
              <a:buClr>
                <a:schemeClr val="dk1"/>
              </a:buClr>
              <a:buSzPts val="2400"/>
            </a:pPr>
            <a:r>
              <a:rPr lang="en-US" sz="2400" b="1" dirty="0">
                <a:solidFill>
                  <a:srgbClr val="FF0000"/>
                </a:solidFill>
                <a:latin typeface="Times New Roman" panose="02020603050405020304" pitchFamily="18" charset="0"/>
                <a:ea typeface="Calibri"/>
                <a:cs typeface="Times New Roman" panose="02020603050405020304" pitchFamily="18" charset="0"/>
                <a:sym typeface="Calibri"/>
              </a:rPr>
              <a:t>My Interest in Data Science:</a:t>
            </a:r>
          </a:p>
          <a:p>
            <a:pPr lvl="0">
              <a:buClr>
                <a:schemeClr val="dk1"/>
              </a:buClr>
              <a:buSzPts val="2400"/>
            </a:pPr>
            <a:r>
              <a:rPr lang="en-US" sz="2000" b="1" dirty="0">
                <a:solidFill>
                  <a:schemeClr val="dk1"/>
                </a:solidFill>
                <a:latin typeface="Times New Roman" panose="02020603050405020304" pitchFamily="18" charset="0"/>
                <a:ea typeface="Calibri"/>
                <a:cs typeface="Times New Roman" panose="02020603050405020304" pitchFamily="18" charset="0"/>
                <a:sym typeface="Calibri"/>
              </a:rPr>
              <a:t>“I’m learning Data Science because I enjoy working with data, and I believe that AI and ML will drive the future. I want to use data to solve real business problems and help companies make smarter decisions.”</a:t>
            </a:r>
          </a:p>
          <a:p>
            <a:pPr lvl="0">
              <a:buClr>
                <a:schemeClr val="dk1"/>
              </a:buClr>
              <a:buSzPts val="2400"/>
            </a:pPr>
            <a:endParaRPr lang="en-US" sz="2400" b="1" dirty="0">
              <a:solidFill>
                <a:schemeClr val="dk1"/>
              </a:solidFill>
              <a:latin typeface="Times New Roman" panose="02020603050405020304" pitchFamily="18" charset="0"/>
              <a:ea typeface="Calibri"/>
              <a:cs typeface="Times New Roman" panose="02020603050405020304" pitchFamily="18" charset="0"/>
              <a:sym typeface="Calibri"/>
            </a:endParaRPr>
          </a:p>
          <a:p>
            <a:pPr lvl="0">
              <a:buClr>
                <a:schemeClr val="dk1"/>
              </a:buClr>
              <a:buSzPts val="2400"/>
            </a:pPr>
            <a:r>
              <a:rPr lang="en-US" sz="2400" b="1" dirty="0">
                <a:solidFill>
                  <a:srgbClr val="FF0000"/>
                </a:solidFill>
                <a:latin typeface="Times New Roman" panose="02020603050405020304" pitchFamily="18" charset="0"/>
                <a:ea typeface="Calibri"/>
                <a:cs typeface="Times New Roman" panose="02020603050405020304" pitchFamily="18" charset="0"/>
                <a:sym typeface="Calibri"/>
              </a:rPr>
              <a:t>Work Experience:</a:t>
            </a:r>
          </a:p>
          <a:p>
            <a:pPr lvl="0">
              <a:buClr>
                <a:schemeClr val="dk1"/>
              </a:buClr>
              <a:buSzPts val="2400"/>
            </a:pPr>
            <a:r>
              <a:rPr lang="en-US" sz="2000" b="1" dirty="0">
                <a:solidFill>
                  <a:schemeClr val="dk1"/>
                </a:solidFill>
                <a:latin typeface="Times New Roman" panose="02020603050405020304" pitchFamily="18" charset="0"/>
                <a:ea typeface="Calibri"/>
                <a:cs typeface="Times New Roman" panose="02020603050405020304" pitchFamily="18" charset="0"/>
                <a:sym typeface="Calibri"/>
              </a:rPr>
              <a:t>“Though I’m a fresher, I’ve done real-time projects in SQL and Data Science that gave me practical experience.”</a:t>
            </a:r>
          </a:p>
          <a:p>
            <a:pPr lvl="0">
              <a:buClr>
                <a:schemeClr val="dk1"/>
              </a:buClr>
              <a:buSzPts val="2400"/>
            </a:pPr>
            <a:endParaRPr lang="en-US" sz="2000" b="1"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endParaRPr sz="24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About me</a:t>
            </a:r>
            <a:endParaRPr sz="18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12A7A3-515B-B0D7-E103-28E11AA0A5FB}"/>
              </a:ext>
            </a:extLst>
          </p:cNvPr>
          <p:cNvSpPr txBox="1"/>
          <p:nvPr/>
        </p:nvSpPr>
        <p:spPr>
          <a:xfrm>
            <a:off x="506361" y="707923"/>
            <a:ext cx="11179278" cy="4524315"/>
          </a:xfrm>
          <a:prstGeom prst="rect">
            <a:avLst/>
          </a:prstGeom>
          <a:noFill/>
        </p:spPr>
        <p:txBody>
          <a:bodyPr wrap="square" rtlCol="0">
            <a:spAutoFit/>
          </a:bodyPr>
          <a:lstStyle/>
          <a:p>
            <a:pPr algn="ctr"/>
            <a:r>
              <a:rPr lang="en-US" sz="2400" b="1" u="sng" dirty="0">
                <a:solidFill>
                  <a:srgbClr val="FF0000"/>
                </a:solidFill>
                <a:latin typeface="Times New Roman" panose="02020603050405020304" pitchFamily="18" charset="0"/>
                <a:cs typeface="Times New Roman" panose="02020603050405020304" pitchFamily="18" charset="0"/>
              </a:rPr>
              <a:t>OBJECTIVE OF THE PROJECT</a:t>
            </a:r>
          </a:p>
          <a:p>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To build a structured SQL database system for managing employee records.</a:t>
            </a:r>
          </a:p>
          <a:p>
            <a:pPr marL="342900" indent="-342900">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To store and track job roles, departments, and employee qualifications.</a:t>
            </a:r>
          </a:p>
          <a:p>
            <a:pPr marL="342900" indent="-342900">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To manage payroll, including bonus allocation and leave-based deductions.</a:t>
            </a:r>
          </a:p>
          <a:p>
            <a:pPr marL="342900" indent="-342900">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To record employee leave details and analyze their impact on salary.</a:t>
            </a:r>
          </a:p>
          <a:p>
            <a:pPr marL="342900" indent="-342900">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To support HR teams with accurate data for efficient decision-making.</a:t>
            </a:r>
          </a:p>
          <a:p>
            <a:endParaRPr lang="en-US" sz="2400" dirty="0"/>
          </a:p>
        </p:txBody>
      </p:sp>
    </p:spTree>
    <p:extLst>
      <p:ext uri="{BB962C8B-B14F-4D97-AF65-F5344CB8AC3E}">
        <p14:creationId xmlns:p14="http://schemas.microsoft.com/office/powerpoint/2010/main" val="2405397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3C9A87-63C1-5CC1-8EBA-1882196011EA}"/>
              </a:ext>
            </a:extLst>
          </p:cNvPr>
          <p:cNvSpPr txBox="1"/>
          <p:nvPr/>
        </p:nvSpPr>
        <p:spPr>
          <a:xfrm>
            <a:off x="454101" y="149888"/>
            <a:ext cx="9684774" cy="4401205"/>
          </a:xfrm>
          <a:prstGeom prst="rect">
            <a:avLst/>
          </a:prstGeom>
          <a:noFill/>
        </p:spPr>
        <p:txBody>
          <a:bodyPr wrap="square" rtlCol="0">
            <a:spAutoFit/>
          </a:bodyPr>
          <a:lstStyle/>
          <a:p>
            <a:r>
              <a:rPr lang="en-US" dirty="0"/>
              <a:t>                                                                                     </a:t>
            </a:r>
            <a:r>
              <a:rPr lang="en-US" sz="2400" b="1" u="sng" dirty="0">
                <a:solidFill>
                  <a:srgbClr val="FF0000"/>
                </a:solidFill>
                <a:latin typeface="Times New Roman" panose="02020603050405020304" pitchFamily="18" charset="0"/>
                <a:cs typeface="Times New Roman" panose="02020603050405020304" pitchFamily="18" charset="0"/>
              </a:rPr>
              <a:t>ER Diagram</a:t>
            </a:r>
          </a:p>
          <a:p>
            <a:endParaRPr lang="en-US" sz="2400" b="1" u="sng" dirty="0">
              <a:solidFill>
                <a:srgbClr val="FF0000"/>
              </a:solidFill>
              <a:latin typeface="Times New Roman" panose="02020603050405020304" pitchFamily="18" charset="0"/>
              <a:cs typeface="Times New Roman" panose="02020603050405020304" pitchFamily="18" charset="0"/>
            </a:endParaRPr>
          </a:p>
          <a:p>
            <a:endParaRPr lang="en-US" sz="2400" b="1" u="sng" dirty="0">
              <a:solidFill>
                <a:srgbClr val="FF0000"/>
              </a:solidFill>
              <a:latin typeface="Times New Roman" panose="02020603050405020304" pitchFamily="18" charset="0"/>
              <a:cs typeface="Times New Roman" panose="02020603050405020304" pitchFamily="18" charset="0"/>
            </a:endParaRPr>
          </a:p>
          <a:p>
            <a:endParaRPr lang="en-US" sz="2400" b="1" u="sng" dirty="0">
              <a:solidFill>
                <a:srgbClr val="FF0000"/>
              </a:solidFill>
              <a:latin typeface="Times New Roman" panose="02020603050405020304" pitchFamily="18" charset="0"/>
              <a:cs typeface="Times New Roman" panose="02020603050405020304" pitchFamily="18" charset="0"/>
            </a:endParaRPr>
          </a:p>
          <a:p>
            <a:endParaRPr lang="en-US" sz="2400" b="1" u="sng" dirty="0">
              <a:solidFill>
                <a:srgbClr val="FF0000"/>
              </a:solidFill>
              <a:latin typeface="Times New Roman" panose="02020603050405020304" pitchFamily="18" charset="0"/>
              <a:cs typeface="Times New Roman" panose="02020603050405020304" pitchFamily="18" charset="0"/>
            </a:endParaRPr>
          </a:p>
          <a:p>
            <a:endParaRPr lang="en-US" sz="2400" b="1" u="sng" dirty="0">
              <a:solidFill>
                <a:srgbClr val="FF0000"/>
              </a:solidFill>
              <a:latin typeface="Times New Roman" panose="02020603050405020304" pitchFamily="18" charset="0"/>
              <a:cs typeface="Times New Roman" panose="02020603050405020304" pitchFamily="18" charset="0"/>
            </a:endParaRPr>
          </a:p>
          <a:p>
            <a:endParaRPr lang="en-US" sz="2400" b="1" u="sng" dirty="0">
              <a:solidFill>
                <a:srgbClr val="FF0000"/>
              </a:solidFill>
              <a:latin typeface="Times New Roman" panose="02020603050405020304" pitchFamily="18" charset="0"/>
              <a:cs typeface="Times New Roman" panose="02020603050405020304" pitchFamily="18" charset="0"/>
            </a:endParaRPr>
          </a:p>
          <a:p>
            <a:endParaRPr lang="en-US" sz="2400" b="1" u="sng" dirty="0">
              <a:solidFill>
                <a:srgbClr val="FF0000"/>
              </a:solidFill>
              <a:latin typeface="Times New Roman" panose="02020603050405020304" pitchFamily="18" charset="0"/>
              <a:cs typeface="Times New Roman" panose="02020603050405020304" pitchFamily="18" charset="0"/>
            </a:endParaRPr>
          </a:p>
          <a:p>
            <a:endParaRPr lang="en-US" sz="2400" b="1" u="sng" dirty="0">
              <a:solidFill>
                <a:srgbClr val="FF0000"/>
              </a:solidFill>
              <a:latin typeface="Times New Roman" panose="02020603050405020304" pitchFamily="18" charset="0"/>
              <a:cs typeface="Times New Roman" panose="02020603050405020304" pitchFamily="18" charset="0"/>
            </a:endParaRPr>
          </a:p>
          <a:p>
            <a:endParaRPr lang="en-US" sz="2400" b="1" u="sng" dirty="0">
              <a:solidFill>
                <a:srgbClr val="FF0000"/>
              </a:solidFill>
              <a:latin typeface="Times New Roman" panose="02020603050405020304" pitchFamily="18" charset="0"/>
              <a:cs typeface="Times New Roman" panose="02020603050405020304" pitchFamily="18" charset="0"/>
            </a:endParaRPr>
          </a:p>
          <a:p>
            <a:endParaRPr lang="en-US" dirty="0"/>
          </a:p>
          <a:p>
            <a:endParaRPr lang="en-US" sz="1200" dirty="0"/>
          </a:p>
          <a:p>
            <a:endParaRPr lang="en-IN" dirty="0"/>
          </a:p>
        </p:txBody>
      </p:sp>
      <p:pic>
        <p:nvPicPr>
          <p:cNvPr id="4" name="Picture 3">
            <a:extLst>
              <a:ext uri="{FF2B5EF4-FFF2-40B4-BE49-F238E27FC236}">
                <a16:creationId xmlns:a16="http://schemas.microsoft.com/office/drawing/2014/main" id="{C8D7FB1E-96AF-9F82-3BF9-36D620A2CEC9}"/>
              </a:ext>
            </a:extLst>
          </p:cNvPr>
          <p:cNvPicPr>
            <a:picLocks noChangeAspect="1"/>
          </p:cNvPicPr>
          <p:nvPr/>
        </p:nvPicPr>
        <p:blipFill>
          <a:blip r:embed="rId2"/>
          <a:stretch>
            <a:fillRect/>
          </a:stretch>
        </p:blipFill>
        <p:spPr>
          <a:xfrm>
            <a:off x="2795978" y="698091"/>
            <a:ext cx="5610603" cy="4140018"/>
          </a:xfrm>
          <a:prstGeom prst="rect">
            <a:avLst/>
          </a:prstGeom>
        </p:spPr>
      </p:pic>
      <p:sp>
        <p:nvSpPr>
          <p:cNvPr id="5" name="TextBox 4">
            <a:extLst>
              <a:ext uri="{FF2B5EF4-FFF2-40B4-BE49-F238E27FC236}">
                <a16:creationId xmlns:a16="http://schemas.microsoft.com/office/drawing/2014/main" id="{AE7558FA-8B5A-2955-17B7-A11D79A75C98}"/>
              </a:ext>
            </a:extLst>
          </p:cNvPr>
          <p:cNvSpPr txBox="1"/>
          <p:nvPr/>
        </p:nvSpPr>
        <p:spPr>
          <a:xfrm>
            <a:off x="780756" y="4838109"/>
            <a:ext cx="9965903" cy="2308324"/>
          </a:xfrm>
          <a:prstGeom prst="rect">
            <a:avLst/>
          </a:prstGeom>
          <a:noFill/>
        </p:spPr>
        <p:txBody>
          <a:bodyPr wrap="square" rtlCol="0">
            <a:spAutoFit/>
          </a:bodyPr>
          <a:lstStyle/>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The ER diagram shows how Employee, Job Department, Salary Bonus, Qualification, Leaves, and Payroll tables are linked using primary and foreign keys to store and manage employee details, salaries, leaves, and qualifications.</a:t>
            </a:r>
          </a:p>
          <a:p>
            <a:pPr marL="285750" indent="-285750">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Employee is the central table, connected to job roles, qualifications, leave records, and payroll. Payroll combines data from all related tables to calculate the final salary.</a:t>
            </a:r>
          </a:p>
          <a:p>
            <a:pPr marL="285750" indent="-285750">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endParaRPr lang="en-IN" sz="1600" dirty="0"/>
          </a:p>
        </p:txBody>
      </p:sp>
    </p:spTree>
    <p:extLst>
      <p:ext uri="{BB962C8B-B14F-4D97-AF65-F5344CB8AC3E}">
        <p14:creationId xmlns:p14="http://schemas.microsoft.com/office/powerpoint/2010/main" val="3160372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7998C-84E7-8F10-4534-F336F6263145}"/>
              </a:ext>
            </a:extLst>
          </p:cNvPr>
          <p:cNvSpPr txBox="1"/>
          <p:nvPr/>
        </p:nvSpPr>
        <p:spPr>
          <a:xfrm>
            <a:off x="648929" y="550607"/>
            <a:ext cx="10628671" cy="6309420"/>
          </a:xfrm>
          <a:prstGeom prst="rect">
            <a:avLst/>
          </a:prstGeom>
          <a:noFill/>
        </p:spPr>
        <p:txBody>
          <a:bodyPr wrap="square" rtlCol="0">
            <a:spAutoFit/>
          </a:bodyPr>
          <a:lstStyle/>
          <a:p>
            <a:r>
              <a:rPr lang="en-US" sz="2000" b="1" u="sng" dirty="0">
                <a:solidFill>
                  <a:srgbClr val="FF0000"/>
                </a:solidFill>
                <a:latin typeface="Times New Roman" panose="02020603050405020304" pitchFamily="18" charset="0"/>
                <a:cs typeface="Times New Roman" panose="02020603050405020304" pitchFamily="18" charset="0"/>
              </a:rPr>
              <a:t>Project Schema (Employee Management System)</a:t>
            </a:r>
          </a:p>
          <a:p>
            <a:endParaRPr lang="en-US" sz="1600" b="1" u="sng" dirty="0">
              <a:solidFill>
                <a:srgbClr val="FF0000"/>
              </a:solidFill>
              <a:latin typeface="Times New Roman" panose="02020603050405020304" pitchFamily="18" charset="0"/>
              <a:cs typeface="Times New Roman" panose="02020603050405020304" pitchFamily="18" charset="0"/>
            </a:endParaRPr>
          </a:p>
          <a:p>
            <a:endParaRPr lang="en-US" sz="1600" b="1" u="sng" dirty="0">
              <a:solidFill>
                <a:srgbClr val="FF0000"/>
              </a:solidFill>
              <a:latin typeface="Times New Roman" panose="02020603050405020304" pitchFamily="18" charset="0"/>
              <a:cs typeface="Times New Roman" panose="02020603050405020304" pitchFamily="18" charset="0"/>
            </a:endParaRPr>
          </a:p>
          <a:p>
            <a:endParaRPr lang="en-US" sz="1600" b="1" u="sng" dirty="0">
              <a:solidFill>
                <a:srgbClr val="FF0000"/>
              </a:solidFill>
              <a:latin typeface="Times New Roman" panose="02020603050405020304" pitchFamily="18" charset="0"/>
              <a:cs typeface="Times New Roman" panose="02020603050405020304" pitchFamily="18" charset="0"/>
            </a:endParaRPr>
          </a:p>
          <a:p>
            <a:endParaRPr lang="en-US" sz="1600" b="1" u="sng" dirty="0">
              <a:solidFill>
                <a:srgbClr val="FF0000"/>
              </a:solidFill>
              <a:latin typeface="Times New Roman" panose="02020603050405020304" pitchFamily="18" charset="0"/>
              <a:cs typeface="Times New Roman" panose="02020603050405020304" pitchFamily="18" charset="0"/>
            </a:endParaRPr>
          </a:p>
          <a:p>
            <a:endParaRPr lang="en-US" sz="1600" b="1" u="sng" dirty="0">
              <a:solidFill>
                <a:srgbClr val="FF0000"/>
              </a:solidFill>
              <a:latin typeface="Times New Roman" panose="02020603050405020304" pitchFamily="18" charset="0"/>
              <a:cs typeface="Times New Roman" panose="02020603050405020304" pitchFamily="18" charset="0"/>
            </a:endParaRPr>
          </a:p>
          <a:p>
            <a:endParaRPr lang="en-US" sz="1600" b="1" u="sng" dirty="0">
              <a:solidFill>
                <a:srgbClr val="FF0000"/>
              </a:solidFill>
              <a:latin typeface="Times New Roman" panose="02020603050405020304" pitchFamily="18" charset="0"/>
              <a:cs typeface="Times New Roman" panose="02020603050405020304" pitchFamily="18" charset="0"/>
            </a:endParaRPr>
          </a:p>
          <a:p>
            <a:endParaRPr lang="en-US" sz="1600" b="1" u="sng" dirty="0">
              <a:solidFill>
                <a:srgbClr val="FF0000"/>
              </a:solidFill>
              <a:latin typeface="Times New Roman" panose="02020603050405020304" pitchFamily="18" charset="0"/>
              <a:cs typeface="Times New Roman" panose="02020603050405020304" pitchFamily="18" charset="0"/>
            </a:endParaRPr>
          </a:p>
          <a:p>
            <a:endParaRPr lang="en-US" sz="1600" b="1" u="sng" dirty="0">
              <a:solidFill>
                <a:srgbClr val="FF0000"/>
              </a:solidFill>
              <a:latin typeface="Times New Roman" panose="02020603050405020304" pitchFamily="18" charset="0"/>
              <a:cs typeface="Times New Roman" panose="02020603050405020304" pitchFamily="18" charset="0"/>
            </a:endParaRPr>
          </a:p>
          <a:p>
            <a:endParaRPr lang="en-US" sz="1600" b="1" u="sng" dirty="0">
              <a:solidFill>
                <a:srgbClr val="FF0000"/>
              </a:solidFill>
              <a:latin typeface="Times New Roman" panose="02020603050405020304" pitchFamily="18" charset="0"/>
              <a:cs typeface="Times New Roman" panose="02020603050405020304" pitchFamily="18" charset="0"/>
            </a:endParaRPr>
          </a:p>
          <a:p>
            <a:endParaRPr lang="en-US" sz="1600" b="1" u="sng" dirty="0">
              <a:solidFill>
                <a:srgbClr val="FF0000"/>
              </a:solidFill>
              <a:latin typeface="Times New Roman" panose="02020603050405020304" pitchFamily="18" charset="0"/>
              <a:cs typeface="Times New Roman" panose="02020603050405020304" pitchFamily="18" charset="0"/>
            </a:endParaRPr>
          </a:p>
          <a:p>
            <a:endParaRPr lang="en-US" sz="1600" b="1" u="sng" dirty="0">
              <a:solidFill>
                <a:srgbClr val="FF0000"/>
              </a:solidFill>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Each table stores a specific type of employee-related data.</a:t>
            </a:r>
          </a:p>
          <a:p>
            <a:pPr marL="285750" indent="-285750">
              <a:buFont typeface="Wingdings" panose="05000000000000000000" pitchFamily="2" charset="2"/>
              <a:buChar char="Ø"/>
            </a:pPr>
            <a:endParaRPr lang="en-US" sz="1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Tables are connected using IDs (like </a:t>
            </a:r>
            <a:r>
              <a:rPr lang="en-US" sz="1800" b="1" dirty="0" err="1">
                <a:latin typeface="Times New Roman" panose="02020603050405020304" pitchFamily="18" charset="0"/>
                <a:cs typeface="Times New Roman" panose="02020603050405020304" pitchFamily="18" charset="0"/>
              </a:rPr>
              <a:t>emp_ID</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Job_ID</a:t>
            </a:r>
            <a:r>
              <a:rPr lang="en-US" sz="1800" b="1"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endParaRPr lang="en-US" sz="1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Salary and payroll depend on job roles and leave records.</a:t>
            </a:r>
          </a:p>
          <a:p>
            <a:pPr marL="285750" indent="-285750">
              <a:buFont typeface="Wingdings" panose="05000000000000000000" pitchFamily="2" charset="2"/>
              <a:buChar char="Ø"/>
            </a:pPr>
            <a:endParaRPr lang="en-US" sz="1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Qualifications help determine the skills required for each position.</a:t>
            </a:r>
          </a:p>
          <a:p>
            <a:pPr marL="285750" indent="-285750">
              <a:buFont typeface="Wingdings" panose="05000000000000000000" pitchFamily="2" charset="2"/>
              <a:buChar char="Ø"/>
            </a:pPr>
            <a:endParaRPr lang="en-US" sz="1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Payroll uses data from other tables to calculate final salary with bonuses and deductions.</a:t>
            </a:r>
          </a:p>
          <a:p>
            <a:pPr marL="285750" indent="-285750">
              <a:buFont typeface="Wingdings" panose="05000000000000000000" pitchFamily="2" charset="2"/>
              <a:buChar char="Ø"/>
            </a:pPr>
            <a:endParaRPr lang="en-US" sz="1800" b="1"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16BD4C54-56C0-1194-D6E1-685DCB5B6F73}"/>
              </a:ext>
            </a:extLst>
          </p:cNvPr>
          <p:cNvPicPr>
            <a:picLocks noChangeAspect="1"/>
          </p:cNvPicPr>
          <p:nvPr/>
        </p:nvPicPr>
        <p:blipFill>
          <a:blip r:embed="rId2"/>
          <a:stretch>
            <a:fillRect/>
          </a:stretch>
        </p:blipFill>
        <p:spPr>
          <a:xfrm>
            <a:off x="2202886" y="1221966"/>
            <a:ext cx="7009733" cy="2425802"/>
          </a:xfrm>
          <a:prstGeom prst="rect">
            <a:avLst/>
          </a:prstGeom>
        </p:spPr>
      </p:pic>
    </p:spTree>
    <p:extLst>
      <p:ext uri="{BB962C8B-B14F-4D97-AF65-F5344CB8AC3E}">
        <p14:creationId xmlns:p14="http://schemas.microsoft.com/office/powerpoint/2010/main" val="1741005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4FBF94-9CA1-9AF2-29A6-CD743698F29A}"/>
              </a:ext>
            </a:extLst>
          </p:cNvPr>
          <p:cNvSpPr txBox="1"/>
          <p:nvPr/>
        </p:nvSpPr>
        <p:spPr>
          <a:xfrm>
            <a:off x="2271252" y="580102"/>
            <a:ext cx="6705600" cy="677108"/>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 </a:t>
            </a:r>
            <a:r>
              <a:rPr lang="en-US" sz="2400" u="sng" dirty="0">
                <a:solidFill>
                  <a:srgbClr val="FF0000"/>
                </a:solidFill>
                <a:latin typeface="Times New Roman" panose="02020603050405020304" pitchFamily="18" charset="0"/>
                <a:cs typeface="Times New Roman" panose="02020603050405020304" pitchFamily="18" charset="0"/>
              </a:rPr>
              <a:t>SQL query results with screenshots and summaries</a:t>
            </a:r>
          </a:p>
          <a:p>
            <a:endParaRPr lang="en-IN"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5E71E23A-5377-D065-F8C0-C8364CCF3B70}"/>
              </a:ext>
            </a:extLst>
          </p:cNvPr>
          <p:cNvPicPr>
            <a:picLocks noChangeAspect="1"/>
          </p:cNvPicPr>
          <p:nvPr/>
        </p:nvPicPr>
        <p:blipFill>
          <a:blip r:embed="rId2"/>
          <a:stretch>
            <a:fillRect/>
          </a:stretch>
        </p:blipFill>
        <p:spPr>
          <a:xfrm>
            <a:off x="2093817" y="2599936"/>
            <a:ext cx="8004366" cy="2982322"/>
          </a:xfrm>
          <a:prstGeom prst="rect">
            <a:avLst/>
          </a:prstGeom>
        </p:spPr>
      </p:pic>
      <p:sp>
        <p:nvSpPr>
          <p:cNvPr id="13" name="TextBox 12">
            <a:extLst>
              <a:ext uri="{FF2B5EF4-FFF2-40B4-BE49-F238E27FC236}">
                <a16:creationId xmlns:a16="http://schemas.microsoft.com/office/drawing/2014/main" id="{36E58DF9-B008-230E-3FD0-0485249EF9E6}"/>
              </a:ext>
            </a:extLst>
          </p:cNvPr>
          <p:cNvSpPr txBox="1"/>
          <p:nvPr/>
        </p:nvSpPr>
        <p:spPr>
          <a:xfrm>
            <a:off x="2669458" y="1965133"/>
            <a:ext cx="5909187"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How do leave days correlate with payroll amounts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5574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4BD6D54-7109-D07B-2A7D-169C2E139ED1}"/>
              </a:ext>
            </a:extLst>
          </p:cNvPr>
          <p:cNvPicPr>
            <a:picLocks noChangeAspect="1"/>
          </p:cNvPicPr>
          <p:nvPr/>
        </p:nvPicPr>
        <p:blipFill>
          <a:blip r:embed="rId2"/>
          <a:stretch>
            <a:fillRect/>
          </a:stretch>
        </p:blipFill>
        <p:spPr>
          <a:xfrm>
            <a:off x="3262926" y="1991493"/>
            <a:ext cx="4337410" cy="4256714"/>
          </a:xfrm>
          <a:prstGeom prst="rect">
            <a:avLst/>
          </a:prstGeom>
        </p:spPr>
      </p:pic>
      <p:sp>
        <p:nvSpPr>
          <p:cNvPr id="8" name="TextBox 7">
            <a:extLst>
              <a:ext uri="{FF2B5EF4-FFF2-40B4-BE49-F238E27FC236}">
                <a16:creationId xmlns:a16="http://schemas.microsoft.com/office/drawing/2014/main" id="{50D71AF9-B907-3AF9-867D-12FEA23AEA95}"/>
              </a:ext>
            </a:extLst>
          </p:cNvPr>
          <p:cNvSpPr txBox="1"/>
          <p:nvPr/>
        </p:nvSpPr>
        <p:spPr>
          <a:xfrm>
            <a:off x="2556387" y="1386348"/>
            <a:ext cx="7079226"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Departments have the highest total salary allocation</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4530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45DB54-FBE5-D00D-914B-6EC0CCCBEC76}"/>
              </a:ext>
            </a:extLst>
          </p:cNvPr>
          <p:cNvSpPr txBox="1"/>
          <p:nvPr/>
        </p:nvSpPr>
        <p:spPr>
          <a:xfrm>
            <a:off x="3106994" y="383459"/>
            <a:ext cx="5801032" cy="615553"/>
          </a:xfrm>
          <a:prstGeom prst="rect">
            <a:avLst/>
          </a:prstGeom>
          <a:noFill/>
        </p:spPr>
        <p:txBody>
          <a:bodyPr wrap="square" rtlCol="0">
            <a:spAutoFit/>
          </a:bodyPr>
          <a:lstStyle/>
          <a:p>
            <a:r>
              <a:rPr lang="en-US" sz="2000" b="1" u="sng" dirty="0">
                <a:solidFill>
                  <a:srgbClr val="FF0000"/>
                </a:solidFill>
                <a:latin typeface="Times New Roman" panose="02020603050405020304" pitchFamily="18" charset="0"/>
                <a:cs typeface="Times New Roman" panose="02020603050405020304" pitchFamily="18" charset="0"/>
              </a:rPr>
              <a:t>Final business insights and recommendations</a:t>
            </a:r>
          </a:p>
          <a:p>
            <a:endParaRPr lang="en-IN" dirty="0"/>
          </a:p>
        </p:txBody>
      </p:sp>
      <p:sp>
        <p:nvSpPr>
          <p:cNvPr id="3" name="TextBox 2">
            <a:extLst>
              <a:ext uri="{FF2B5EF4-FFF2-40B4-BE49-F238E27FC236}">
                <a16:creationId xmlns:a16="http://schemas.microsoft.com/office/drawing/2014/main" id="{4E284AE2-8D6E-5797-F54E-BE43315563D3}"/>
              </a:ext>
            </a:extLst>
          </p:cNvPr>
          <p:cNvSpPr txBox="1"/>
          <p:nvPr/>
        </p:nvSpPr>
        <p:spPr>
          <a:xfrm>
            <a:off x="747252" y="1077670"/>
            <a:ext cx="10726993" cy="2769989"/>
          </a:xfrm>
          <a:prstGeom prst="rect">
            <a:avLst/>
          </a:prstGeom>
          <a:noFill/>
        </p:spPr>
        <p:txBody>
          <a:bodyPr wrap="square" rtlCol="0">
            <a:spAutoFit/>
          </a:bodyPr>
          <a:lstStyle/>
          <a:p>
            <a:r>
              <a:rPr lang="en-US" sz="1800" b="1" u="sng" dirty="0">
                <a:latin typeface="Times New Roman" panose="02020603050405020304" pitchFamily="18" charset="0"/>
                <a:cs typeface="Times New Roman" panose="02020603050405020304" pitchFamily="18" charset="0"/>
              </a:rPr>
              <a:t>Business Insights </a:t>
            </a:r>
            <a:r>
              <a:rPr lang="en-US" sz="1800" b="1" dirty="0">
                <a:latin typeface="Times New Roman" panose="02020603050405020304" pitchFamily="18" charset="0"/>
                <a:cs typeface="Times New Roman" panose="02020603050405020304" pitchFamily="18" charset="0"/>
              </a:rPr>
              <a:t>:</a:t>
            </a:r>
          </a:p>
          <a:p>
            <a:endParaRPr lang="en-US" dirty="0"/>
          </a:p>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Departments like IT and Finance have the highest employee count, indicating high business demand.</a:t>
            </a:r>
          </a:p>
          <a:p>
            <a:pPr marL="285750" indent="-285750">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Employees with higher qualifications receive better salary &amp; bonus benefits.</a:t>
            </a:r>
          </a:p>
          <a:p>
            <a:pPr marL="285750" indent="-285750">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Leave count affects payroll, showing a negative impact on salary deductions.</a:t>
            </a:r>
          </a:p>
          <a:p>
            <a:pPr marL="285750" indent="-285750">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Payroll data shows bonus distribution varies by job roles, not equally.</a:t>
            </a:r>
          </a:p>
          <a:p>
            <a:pPr marL="285750" indent="-285750">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558F0B75-CF4A-8C23-1FE0-19408657EB25}"/>
              </a:ext>
            </a:extLst>
          </p:cNvPr>
          <p:cNvSpPr txBox="1"/>
          <p:nvPr/>
        </p:nvSpPr>
        <p:spPr>
          <a:xfrm>
            <a:off x="717755" y="3582188"/>
            <a:ext cx="7865806" cy="2784199"/>
          </a:xfrm>
          <a:prstGeom prst="rect">
            <a:avLst/>
          </a:prstGeom>
          <a:noFill/>
        </p:spPr>
        <p:txBody>
          <a:bodyPr wrap="square" rtlCol="0">
            <a:spAutoFit/>
          </a:bodyPr>
          <a:lstStyle/>
          <a:p>
            <a:r>
              <a:rPr lang="en-US" sz="2000" b="1" u="sng" dirty="0">
                <a:latin typeface="Times New Roman" panose="02020603050405020304" pitchFamily="18" charset="0"/>
                <a:cs typeface="Times New Roman" panose="02020603050405020304" pitchFamily="18" charset="0"/>
              </a:rPr>
              <a:t>Recommendations :</a:t>
            </a:r>
          </a:p>
          <a:p>
            <a:endParaRPr lang="en-US" dirty="0"/>
          </a:p>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HR can hire more employees for understaffed departments to balance workload.</a:t>
            </a:r>
          </a:p>
          <a:p>
            <a:pPr marL="285750" indent="-285750">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Provide skill training based on qualification analysis to increase productivity.</a:t>
            </a:r>
          </a:p>
          <a:p>
            <a:pPr marL="285750" indent="-285750">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Implement clear leave policies to avoid excess salary loss for employees.</a:t>
            </a:r>
          </a:p>
          <a:p>
            <a:pPr marL="285750" indent="-285750">
              <a:buFont typeface="Wingdings" panose="05000000000000000000" pitchFamily="2" charset="2"/>
              <a:buChar char="Ø"/>
            </a:pPr>
            <a:endParaRPr lang="en-US"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Use payroll data to design performance-based incentives.</a:t>
            </a:r>
          </a:p>
          <a:p>
            <a:pPr marL="285750" indent="-285750">
              <a:buFont typeface="Wingdings" panose="05000000000000000000" pitchFamily="2" charset="2"/>
              <a:buChar char="Ø"/>
            </a:pPr>
            <a:endParaRPr lang="en-US" sz="1600" dirty="0"/>
          </a:p>
          <a:p>
            <a:endParaRPr lang="en-IN" dirty="0"/>
          </a:p>
        </p:txBody>
      </p:sp>
    </p:spTree>
    <p:extLst>
      <p:ext uri="{BB962C8B-B14F-4D97-AF65-F5344CB8AC3E}">
        <p14:creationId xmlns:p14="http://schemas.microsoft.com/office/powerpoint/2010/main" val="3143990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C54BF3-8AEB-9242-00E2-DE1BEFB01AF5}"/>
              </a:ext>
            </a:extLst>
          </p:cNvPr>
          <p:cNvSpPr txBox="1"/>
          <p:nvPr/>
        </p:nvSpPr>
        <p:spPr>
          <a:xfrm>
            <a:off x="973394" y="875071"/>
            <a:ext cx="8996516" cy="4801314"/>
          </a:xfrm>
          <a:prstGeom prst="rect">
            <a:avLst/>
          </a:prstGeom>
          <a:noFill/>
        </p:spPr>
        <p:txBody>
          <a:bodyPr wrap="square" rtlCol="0">
            <a:spAutoFit/>
          </a:bodyPr>
          <a:lstStyle/>
          <a:p>
            <a:r>
              <a:rPr lang="en-US" sz="2400" b="1" u="sng" dirty="0">
                <a:solidFill>
                  <a:srgbClr val="FF0000"/>
                </a:solidFill>
                <a:latin typeface="Times New Roman" panose="02020603050405020304" pitchFamily="18" charset="0"/>
                <a:cs typeface="Times New Roman" panose="02020603050405020304" pitchFamily="18" charset="0"/>
              </a:rPr>
              <a:t>CONCLUSION :</a:t>
            </a:r>
          </a:p>
          <a:p>
            <a:endParaRPr lang="en-US" dirty="0"/>
          </a:p>
          <a:p>
            <a:endParaRPr lang="en-US" dirty="0"/>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The Employee Management System effectively stores and manages employee details, job roles, qualifications, leaves, and payroll data in a structured way.</a:t>
            </a:r>
          </a:p>
          <a:p>
            <a:pPr marL="342900" indent="-3429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It ensures accurate salary calculation by linking bonuses with job roles and applying leave-based deductions.</a:t>
            </a:r>
          </a:p>
          <a:p>
            <a:pPr marL="342900" indent="-3429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The system helps HR make data-driven decisions related to hiring, skill development, and payroll management.</a:t>
            </a:r>
          </a:p>
          <a:p>
            <a:pPr marL="342900" indent="-3429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Overall, the project improves efficiency, reduces manual errors, and supports better organizational planning.</a:t>
            </a:r>
          </a:p>
          <a:p>
            <a:pPr marL="342900" indent="-3429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38234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FD611A-87FC-A030-DF56-B829D0B54BCC}"/>
              </a:ext>
            </a:extLst>
          </p:cNvPr>
          <p:cNvSpPr txBox="1"/>
          <p:nvPr/>
        </p:nvSpPr>
        <p:spPr>
          <a:xfrm>
            <a:off x="619432" y="776749"/>
            <a:ext cx="4424516" cy="615553"/>
          </a:xfrm>
          <a:prstGeom prst="rect">
            <a:avLst/>
          </a:prstGeom>
          <a:noFill/>
        </p:spPr>
        <p:txBody>
          <a:bodyPr wrap="square" rtlCol="0">
            <a:spAutoFit/>
          </a:bodyPr>
          <a:lstStyle/>
          <a:p>
            <a:r>
              <a:rPr lang="en-IN" sz="2000" b="1" u="sng" dirty="0">
                <a:solidFill>
                  <a:srgbClr val="FF0000"/>
                </a:solidFill>
                <a:latin typeface="Times New Roman" panose="02020603050405020304" pitchFamily="18" charset="0"/>
                <a:cs typeface="Times New Roman" panose="02020603050405020304" pitchFamily="18" charset="0"/>
              </a:rPr>
              <a:t>QUESTION AND ANSWERS </a:t>
            </a:r>
          </a:p>
          <a:p>
            <a:endParaRPr lang="en-IN" dirty="0"/>
          </a:p>
        </p:txBody>
      </p:sp>
    </p:spTree>
    <p:extLst>
      <p:ext uri="{BB962C8B-B14F-4D97-AF65-F5344CB8AC3E}">
        <p14:creationId xmlns:p14="http://schemas.microsoft.com/office/powerpoint/2010/main" val="358623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EF9A8A-9801-F91D-9E24-A9D40FE1FDFD}"/>
              </a:ext>
            </a:extLst>
          </p:cNvPr>
          <p:cNvSpPr txBox="1"/>
          <p:nvPr/>
        </p:nvSpPr>
        <p:spPr>
          <a:xfrm>
            <a:off x="983225" y="757082"/>
            <a:ext cx="9684775" cy="4893647"/>
          </a:xfrm>
          <a:prstGeom prst="rect">
            <a:avLst/>
          </a:prstGeom>
          <a:noFill/>
        </p:spPr>
        <p:txBody>
          <a:bodyPr wrap="square" rtlCol="0">
            <a:spAutoFit/>
          </a:bodyPr>
          <a:lstStyle/>
          <a:p>
            <a:r>
              <a:rPr lang="en-US" sz="2400" b="1" u="sng" dirty="0">
                <a:solidFill>
                  <a:srgbClr val="FF0000"/>
                </a:solidFill>
                <a:latin typeface="Times New Roman" panose="02020603050405020304" pitchFamily="18" charset="0"/>
                <a:cs typeface="Times New Roman" panose="02020603050405020304" pitchFamily="18" charset="0"/>
              </a:rPr>
              <a:t>Experience/Challenges working on SQL – Data Analysis Project :</a:t>
            </a:r>
          </a:p>
          <a:p>
            <a:endParaRPr lang="en-US" sz="2400" dirty="0"/>
          </a:p>
          <a:p>
            <a:pPr marL="285750" indent="-28575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Working on this SQL–Data Analysis project helped me understand how real databases store and connect information.</a:t>
            </a:r>
          </a:p>
          <a:p>
            <a:endParaRPr lang="en-US" sz="24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 faced challenges while joining multiple tables and calculating payroll with leave deductions.</a:t>
            </a:r>
          </a:p>
          <a:p>
            <a:endParaRPr lang="en-US" sz="24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Debugging SQL queries taught me how small mistakes in joins or grouping can change the entire result.</a:t>
            </a:r>
          </a:p>
          <a:p>
            <a:pPr marL="285750" indent="-285750">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Overall, this project improved my confidence in SQL, data analysis, and real-world problem solving.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4709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593</Words>
  <Application>Microsoft Office PowerPoint</Application>
  <PresentationFormat>Widescreen</PresentationFormat>
  <Paragraphs>102</Paragraphs>
  <Slides>12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Wingdings</vt:lpstr>
      <vt:lpstr>Calibri</vt:lpstr>
      <vt:lpstr>Times New Roman</vt:lpstr>
      <vt:lpstr>Franklin Gothic Heavy</vt:lpstr>
      <vt:lpstr>Arial</vt:lpstr>
      <vt:lpstr>Lato Black</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HARI SAI ABHINAV SAMI</cp:lastModifiedBy>
  <cp:revision>1</cp:revision>
  <dcterms:created xsi:type="dcterms:W3CDTF">2021-02-16T05:19:01Z</dcterms:created>
  <dcterms:modified xsi:type="dcterms:W3CDTF">2025-12-10T18:09:45Z</dcterms:modified>
</cp:coreProperties>
</file>